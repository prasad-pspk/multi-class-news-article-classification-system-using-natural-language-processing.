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Noto Serif" panose="02020600060500020200" pitchFamily="18" charset="0"/>
      <p:regular r:id="rId14"/>
    </p:embeddedFont>
    <p:embeddedFont>
      <p:font typeface="Noto Serif Bold" panose="020B0604020202020204" charset="0"/>
      <p:regular r:id="rId15"/>
    </p:embeddedFont>
    <p:embeddedFont>
      <p:font typeface="Noto Serif Medium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9904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17960"/>
            <a:ext cx="6296860" cy="2805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kern="0" spc="-7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Multi-Class News Article Classification System Using Natural Language Processing and Deep Learning Techniques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61475" y="4679752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Automating intelligent news categorization through NLP pipelines and deep learning architectures.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3A40C2-F760-A17D-4D5A-86873786B9D4}"/>
              </a:ext>
            </a:extLst>
          </p:cNvPr>
          <p:cNvSpPr txBox="1"/>
          <p:nvPr/>
        </p:nvSpPr>
        <p:spPr>
          <a:xfrm>
            <a:off x="661475" y="5408762"/>
            <a:ext cx="2471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latin typeface="Aptos" panose="020B0004020202020204" pitchFamily="34" charset="0"/>
                <a:cs typeface="Aldhabi" panose="01000000000000000000" pitchFamily="2" charset="-78"/>
              </a:rPr>
              <a:t>Mr.KAMOJULA</a:t>
            </a:r>
            <a:r>
              <a:rPr lang="en-IN" dirty="0">
                <a:latin typeface="Aptos" panose="020B0004020202020204" pitchFamily="34" charset="0"/>
                <a:cs typeface="Aldhabi" panose="01000000000000000000" pitchFamily="2" charset="-78"/>
              </a:rPr>
              <a:t> PRASAD</a:t>
            </a:r>
          </a:p>
          <a:p>
            <a:r>
              <a:rPr lang="en-IN" dirty="0">
                <a:latin typeface="Aptos" panose="020B0004020202020204" pitchFamily="34" charset="0"/>
                <a:cs typeface="Aldhabi" panose="01000000000000000000" pitchFamily="2" charset="-78"/>
              </a:rPr>
              <a:t>324129510025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936427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kern="0" spc="-63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Introduction and Problem Context</a:t>
            </a:r>
            <a:endParaRPr lang="en-US" sz="3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145308"/>
            <a:ext cx="6296860" cy="116770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9239" y="2324993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Information Overload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5489239" y="2657872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Digital news platforms generate thousands of articles daily, creating massive challenges for content organization and discovery.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449538"/>
            <a:ext cx="6296860" cy="11677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9239" y="3629223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Manual Categorization Fails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5489239" y="3962102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Human-led tagging is time-consuming, inconsistent, and entirely impractical at the scale modern platforms demand.</a:t>
            </a:r>
            <a:endParaRPr lang="en-US" sz="12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753769"/>
            <a:ext cx="6296860" cy="11677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9239" y="4933454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Intelligent Automation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5489239" y="5266333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NLP and deep learning techniques understand semantic meaning and context, enabling accurate and scalable automated classification.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7184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56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Problem Statement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419" y="2254647"/>
            <a:ext cx="5207663" cy="2951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82386" y="2207915"/>
            <a:ext cx="31540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Labor-Intensive &amp; Error-Prone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382386" y="2535634"/>
            <a:ext cx="315408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Manual categorization introduces human bias and inconsistency across large news corpora.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382386" y="3193852"/>
            <a:ext cx="31540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Shallow Keyword Systems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382386" y="3521571"/>
            <a:ext cx="315408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Rule-based and keyword-driven methods fail to capture contextual meaning, synonyms, and domain-specific terminology.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382386" y="4378226"/>
            <a:ext cx="31540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Need for Scale-Aware Intelligence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382386" y="4705945"/>
            <a:ext cx="315408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context-aware, automated, and scalable multi-class classification system is essential for modern news ecosystems.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661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74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Objectives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45283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559546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Multi-Class Classification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968228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Automatically assign articles to categories: Politics, Sports, Business, Technology, Entertainment, and Health.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1945283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559546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NLP Preprocessing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2968228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Apply robust text preprocessing and feature extraction techniques to prepare raw news content for modeling.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951089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565352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Word Embeddings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4974034"/>
            <a:ext cx="5316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Leverage embeddings to capture rich semantic relationships between words across diverse news domains.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3951089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565352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Deep Learning Models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4974034"/>
            <a:ext cx="53163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Develop LSTM and Transformer architectures for accurate multi-class prediction with confidence scores and analytics.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43273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kern="0" spc="-7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Proposed System Overview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56" y="2585839"/>
            <a:ext cx="4417307" cy="2503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55833" y="1930896"/>
            <a:ext cx="578063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35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End-to-End Classification Pipeline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755833" y="2381945"/>
            <a:ext cx="5780637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system accepts raw news article headlines and body content, processes them through a multi-stage NLP pipeline, and returns a predicted category with a confidence score.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755833" y="3375720"/>
            <a:ext cx="5780637" cy="2479278"/>
          </a:xfrm>
          <a:prstGeom prst="rect">
            <a:avLst/>
          </a:prstGeom>
          <a:noFill/>
          <a:ln/>
        </p:spPr>
        <p:txBody>
          <a:bodyPr wrap="square" lIns="0" tIns="71827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Input:</a:t>
            </a: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News headline and article content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Processing:</a:t>
            </a: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NLP pipeline for text normalization and feature extraction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Classification:</a:t>
            </a: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Deep learning model assigns one of six predefined categories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Output:</a:t>
            </a: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Predicted label with probability confidence score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Dashboard:</a:t>
            </a: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Analytics, classification history, and category distribution visualization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005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kern="0" spc="-62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System Architecture and Processing Pipeline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68413"/>
            <a:ext cx="10868745" cy="46948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55023" y="4300711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Text Cleaning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3255023" y="4678253"/>
            <a:ext cx="1613822" cy="859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Normalize, lowercase, remove punctuation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398903" y="4221675"/>
            <a:ext cx="1613822" cy="587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Feature Extraction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398903" y="4893152"/>
            <a:ext cx="1613822" cy="64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TF-IDF, Word2Vec, GloVe, transformers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88227" y="1692044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Input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188227" y="2069587"/>
            <a:ext cx="1613822" cy="429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News headline and content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404137" y="1692044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Model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9404137" y="2069587"/>
            <a:ext cx="1613822" cy="64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LSTM or Transformer for classification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352682" y="1692044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Preprocessing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352682" y="2069587"/>
            <a:ext cx="1613822" cy="644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Tokenize, remove stop-words, lemmatize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1475" y="6108998"/>
            <a:ext cx="11478330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Each stage transforms raw text into structured, semantically rich representations that enable accurate multi-class classification.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8527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56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Collection and Preprocessing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467247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Dataset Construction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61475" y="1794966"/>
            <a:ext cx="5261439" cy="1736328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Collect news articles from reliable sources with headline, body, category label, and metadata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Label articles across six predefined categories with balanced class distribution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Partition into training, validation, and testing splits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Remove missing, duplicate, and noisy records through rigorous cleaning and validation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Ensure diverse and representative training data for robust generalization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173038" y="1360984"/>
            <a:ext cx="5465626" cy="4738489"/>
          </a:xfrm>
          <a:prstGeom prst="roundRect">
            <a:avLst>
              <a:gd name="adj" fmla="val 2154"/>
            </a:avLst>
          </a:prstGeom>
          <a:solidFill>
            <a:srgbClr val="9C92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314719" y="1467247"/>
            <a:ext cx="51822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Preprocessing Steps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14719" y="1808262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-22" dirty="0">
                <a:solidFill>
                  <a:srgbClr val="000000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14719" y="2030115"/>
            <a:ext cx="5182264" cy="1905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314719" y="2139057"/>
            <a:ext cx="51822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Normalization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14719" y="2466777"/>
            <a:ext cx="518226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Lowercase conversion, punctuation and special character removal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4719" y="2877741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-22" dirty="0">
                <a:solidFill>
                  <a:srgbClr val="000000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14719" y="3099594"/>
            <a:ext cx="5182264" cy="1905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14719" y="3208536"/>
            <a:ext cx="51822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Tokenization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14719" y="3536255"/>
            <a:ext cx="518226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Split text into meaningful word and subword tokens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4719" y="3947220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-22" dirty="0">
                <a:solidFill>
                  <a:srgbClr val="000000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14719" y="4169073"/>
            <a:ext cx="5182264" cy="1905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14719" y="4278015"/>
            <a:ext cx="51822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Stop-word Removal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14719" y="4605734"/>
            <a:ext cx="518226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Eliminate common non-informative words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14719" y="5016698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-22" dirty="0">
                <a:solidFill>
                  <a:srgbClr val="000000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14719" y="5238552"/>
            <a:ext cx="5182264" cy="1905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314719" y="5347494"/>
            <a:ext cx="51822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Lemmatization / Stemming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314719" y="5675213"/>
            <a:ext cx="518226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Reduce words to canonical root forms for consistency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55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kern="0" spc="-57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Feature Extraction and Word Embeddings</a:t>
            </a:r>
            <a:endParaRPr lang="en-US" sz="2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69107"/>
            <a:ext cx="4945236" cy="4945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40962" y="2467868"/>
            <a:ext cx="4695509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9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From Words to Vectors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40962" y="2807395"/>
            <a:ext cx="4695509" cy="618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Embeddings are the bridge between raw text and deep learning models. Each technique offers a different trade-off between computational efficiency and semantic richness.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40962" y="3527127"/>
            <a:ext cx="4695509" cy="1561505"/>
          </a:xfrm>
          <a:prstGeom prst="rect">
            <a:avLst/>
          </a:prstGeom>
          <a:noFill/>
          <a:ln/>
        </p:spPr>
        <p:txBody>
          <a:bodyPr wrap="square" lIns="0" tIns="58241" rIns="0" bIns="0" rtlCol="0" anchor="t">
            <a:normAutofit/>
          </a:bodyPr>
          <a:lstStyle/>
          <a:p>
            <a:pPr marL="223520" indent="-223520" algn="l">
              <a:lnSpc>
                <a:spcPct val="118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TF-IDF: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Lightweight, statistical, interpretable — ideal for baselines</a:t>
            </a:r>
            <a:endParaRPr lang="en-US" sz="1100" dirty="0"/>
          </a:p>
          <a:p>
            <a:pPr marL="223520" indent="-223520" algn="l">
              <a:lnSpc>
                <a:spcPct val="118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Word2Vec: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Dense, context-driven semantic similarity</a:t>
            </a:r>
            <a:endParaRPr lang="en-US" sz="1100" dirty="0"/>
          </a:p>
          <a:p>
            <a:pPr marL="223520" indent="-223520" algn="l">
              <a:lnSpc>
                <a:spcPct val="118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GloVe: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Combines corpus-wide co-occurrence statistics with local context</a:t>
            </a:r>
            <a:endParaRPr lang="en-US" sz="1100" dirty="0"/>
          </a:p>
          <a:p>
            <a:pPr marL="223520" indent="-223520" algn="l">
              <a:lnSpc>
                <a:spcPct val="118000"/>
              </a:lnSpc>
              <a:buSzPct val="100000"/>
              <a:buChar char="•"/>
            </a:pP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Transformer Embeddings: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Dynamic, context-dependent representations from pre-trained models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6895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74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Deep Learning Models: LSTM and Transformer Approaches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36217"/>
            <a:ext cx="10868745" cy="2727325"/>
          </a:xfrm>
          <a:prstGeom prst="roundRect">
            <a:avLst>
              <a:gd name="adj" fmla="val 2911"/>
            </a:avLst>
          </a:prstGeom>
          <a:solidFill>
            <a:srgbClr val="F2EDE5"/>
          </a:solidFill>
          <a:ln w="6350">
            <a:solidFill>
              <a:srgbClr val="CCC4B8"/>
            </a:solidFill>
            <a:prstDash val="solid"/>
          </a:ln>
          <a:effectLst>
            <a:outerShdw blurRad="127" dist="2413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67825" y="2442567"/>
            <a:ext cx="5428023" cy="2714625"/>
          </a:xfrm>
          <a:custGeom>
            <a:avLst/>
            <a:gdLst/>
            <a:ahLst/>
            <a:cxnLst/>
            <a:rect l="l" t="t" r="r" b="b"/>
            <a:pathLst>
              <a:path w="5428023" h="2714625">
                <a:moveTo>
                  <a:pt x="66156" y="0"/>
                </a:moveTo>
                <a:lnTo>
                  <a:pt x="5428023" y="0"/>
                </a:lnTo>
                <a:lnTo>
                  <a:pt x="5428023" y="2714625"/>
                </a:lnTo>
                <a:lnTo>
                  <a:pt x="66156" y="2714625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F2E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6832" y="2631579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LSTM Architecture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040261"/>
            <a:ext cx="5050009" cy="1625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Input</a:t>
            </a: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→ Embedding Layer → LSTM Layers → Dropout Regularization → Dense Layer → </a:t>
            </a:r>
            <a:r>
              <a:rPr lang="en-US" sz="14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Softmax Output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Captures sequential dependencies and long-range patterns in text through gated memory cells, making it effective for variable-length news articles.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5848" y="2442567"/>
            <a:ext cx="5428023" cy="2714625"/>
          </a:xfrm>
          <a:custGeom>
            <a:avLst/>
            <a:gdLst/>
            <a:ahLst/>
            <a:cxnLst/>
            <a:rect l="l" t="t" r="r" b="b"/>
            <a:pathLst>
              <a:path w="5428023" h="2714625">
                <a:moveTo>
                  <a:pt x="0" y="0"/>
                </a:moveTo>
                <a:lnTo>
                  <a:pt x="5361866" y="0"/>
                </a:lnTo>
                <a:arcTo wR="66156" hR="66158" stAng="16200000" swAng="5400000"/>
                <a:lnTo>
                  <a:pt x="5428023" y="2648467"/>
                </a:lnTo>
                <a:arcTo wR="66156" hR="66158" stAng="0" swAng="5400000"/>
                <a:lnTo>
                  <a:pt x="0" y="2714625"/>
                </a:lnTo>
                <a:lnTo>
                  <a:pt x="0" y="0"/>
                </a:lnTo>
                <a:close/>
              </a:path>
            </a:pathLst>
          </a:custGeom>
          <a:solidFill>
            <a:srgbClr val="F2E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095848" y="2442567"/>
            <a:ext cx="25399" cy="2714625"/>
          </a:xfrm>
          <a:prstGeom prst="roundRect">
            <a:avLst>
              <a:gd name="adj" fmla="val 50001"/>
            </a:avLst>
          </a:prstGeom>
          <a:solidFill>
            <a:srgbClr val="CCC4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84854" y="2631579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37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Transformer Architecture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284854" y="3040261"/>
            <a:ext cx="5050009" cy="1927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Token Embeddings</a:t>
            </a: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→ Positional Encoding → Multi-Head Self-Attention → Transformer Encoder Layers → </a:t>
            </a:r>
            <a:r>
              <a:rPr lang="en-US" sz="14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Classification Head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Processes entire sequences in parallel using self-attention to model global contextual dependencies across all token positions simultaneously.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537616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Both architectures produce a probability distribution across all six news categories via the output layer, with the highest probability class selected as the final prediction.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9112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kern="0" spc="-63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Model Training, Evaluation, and Applications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832471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Training Strategy &amp; Evaluation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61475" y="2220020"/>
            <a:ext cx="5238421" cy="1284089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Loss Function:</a:t>
            </a: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Categorical cross-entropy for multi-class optimization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Optimizer:</a:t>
            </a: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Adam with adaptive learning rate scheduling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Overfitting Control:</a:t>
            </a: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Dropout, early stopping, and validation monitoring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61475" y="3640634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Evaluation Metrics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61475" y="4028182"/>
            <a:ext cx="5238421" cy="1094085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Accuracy</a:t>
            </a: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overall correct predictions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Precision &amp; Recall</a:t>
            </a: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per-class correctness and coverage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F1-Score</a:t>
            </a: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harmonic mean balancing precision and recall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Confusion Matrix</a:t>
            </a: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cross-category error analysis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98149" y="1832471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Applications &amp; Advantages</a:t>
            </a:r>
            <a:endParaRPr lang="en-US" sz="15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8149" y="2265164"/>
            <a:ext cx="240996" cy="2410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75667" y="2272209"/>
            <a:ext cx="486090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News &amp; Media Platforms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675667" y="2659757"/>
            <a:ext cx="486090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News agencies, digital media platforms, and aggregation services automate content tagging at scale.</a:t>
            </a:r>
            <a:endParaRPr lang="en-US" sz="12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8149" y="3436342"/>
            <a:ext cx="240996" cy="2410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75667" y="3443387"/>
            <a:ext cx="486090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Information Systems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675667" y="3830935"/>
            <a:ext cx="4860903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Digital libraries, content management systems, and information retrieval engines benefit from structured categorization.</a:t>
            </a:r>
            <a:endParaRPr lang="en-US" sz="12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8149" y="4845248"/>
            <a:ext cx="240996" cy="2410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75667" y="4852293"/>
            <a:ext cx="486090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Advantages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6675667" y="5239841"/>
            <a:ext cx="486090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Reduced manual effort, faster organization, improved retrieval accuracy, and a fully scalable architecture.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357809"/>
            <a:ext cx="629686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0" spc="-48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Conclusion and Future Scope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61475" y="1941314"/>
            <a:ext cx="28666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61475" y="2213074"/>
            <a:ext cx="2866656" cy="113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NLP preprocessing, word embeddings, and deep learning architectures — LSTM and Transformer — together enable efficient, automated classification of large-scale news collections into semantically meaningful categories, reducing manual effort and improving content organization at scale.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834113" y="1941314"/>
            <a:ext cx="313047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Future Enhancements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0150" y="2226866"/>
            <a:ext cx="184245" cy="18424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33360" y="2223095"/>
            <a:ext cx="273122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Advanced Transformers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233360" y="2494855"/>
            <a:ext cx="2731225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Fine-tune BERT, RoBERTa, and domain-specific pre-trained models for higher accuracy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0150" y="2982516"/>
            <a:ext cx="184245" cy="18424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33360" y="2978745"/>
            <a:ext cx="273122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Multilingual &amp; Real-Time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233360" y="3250505"/>
            <a:ext cx="2731225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Extend to multilingual classification and real-time streaming article processing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0150" y="3738166"/>
            <a:ext cx="184245" cy="18424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233360" y="3734395"/>
            <a:ext cx="273122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Expanded Intelligence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233360" y="4006155"/>
            <a:ext cx="2731225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Integrate fake news detection, sentiment analysis, and personalized content recommendations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0150" y="4655939"/>
            <a:ext cx="184245" cy="18424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233360" y="4652169"/>
            <a:ext cx="273122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24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Cloud Deployment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4233360" y="4923929"/>
            <a:ext cx="2731225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Deploy as a scalable, cloud-native microservice for enterprise-grade production systems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886</Words>
  <Application>Microsoft Office PowerPoint</Application>
  <PresentationFormat>Widescreen</PresentationFormat>
  <Paragraphs>122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Aptos</vt:lpstr>
      <vt:lpstr>Noto Serif Bold</vt:lpstr>
      <vt:lpstr>Noto Serif Light</vt:lpstr>
      <vt:lpstr>Noto Serif Medium</vt:lpstr>
      <vt:lpstr>Noto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Elijah Casper</dc:creator>
  <cp:lastModifiedBy>Elijah Casper</cp:lastModifiedBy>
  <cp:revision>2</cp:revision>
  <dcterms:created xsi:type="dcterms:W3CDTF">2026-08-31T09:16:45Z</dcterms:created>
  <dcterms:modified xsi:type="dcterms:W3CDTF">2026-09-25T05:56:09Z</dcterms:modified>
</cp:coreProperties>
</file>